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4" r:id="rId8"/>
    <p:sldId id="269" r:id="rId9"/>
    <p:sldId id="265" r:id="rId10"/>
    <p:sldId id="263" r:id="rId11"/>
    <p:sldId id="270" r:id="rId12"/>
    <p:sldId id="2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p:scale>
          <a:sx n="66" d="100"/>
          <a:sy n="66" d="100"/>
        </p:scale>
        <p:origin x="1210"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ED30BC0C-0409-46ED-B784-CC144681EFA7}"/>
              </a:ext>
            </a:extLst>
          </p:cNvPr>
          <p:cNvSpPr>
            <a:spLocks noGrp="1"/>
          </p:cNvSpPr>
          <p:nvPr>
            <p:ph type="ctrTitle"/>
          </p:nvPr>
        </p:nvSpPr>
        <p:spPr>
          <a:xfrm>
            <a:off x="1349890" y="-595286"/>
            <a:ext cx="8965962" cy="2796948"/>
          </a:xfrm>
        </p:spPr>
        <p:txBody>
          <a:bodyPr>
            <a:normAutofit/>
          </a:bodyPr>
          <a:lstStyle/>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SRM VALLIAMMAI ENGINEERING COLLEGE</a:t>
            </a:r>
            <a:b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(An Autonomous Institution)</a:t>
            </a:r>
            <a:br>
              <a:rPr lang="en-US" sz="2400"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DEPARTMENT OF INFORMATION TECHNOLOGY</a:t>
            </a:r>
            <a:b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br>
            <a:r>
              <a:rPr lang="en-US" sz="2400" b="1" u="sng" dirty="0" smtClean="0">
                <a:solidFill>
                  <a:schemeClr val="tx1">
                    <a:lumMod val="95000"/>
                    <a:lumOff val="5000"/>
                  </a:schemeClr>
                </a:solidFill>
                <a:latin typeface="Times New Roman" panose="02020603050405020304" pitchFamily="18" charset="0"/>
                <a:cs typeface="Times New Roman" panose="02020603050405020304" pitchFamily="18" charset="0"/>
              </a:rPr>
              <a:t>PROJECT </a:t>
            </a:r>
            <a:r>
              <a:rPr lang="en-US" sz="2400" b="1" u="sng" dirty="0">
                <a:solidFill>
                  <a:schemeClr val="tx1">
                    <a:lumMod val="95000"/>
                    <a:lumOff val="5000"/>
                  </a:schemeClr>
                </a:solidFill>
                <a:latin typeface="Times New Roman" panose="02020603050405020304" pitchFamily="18" charset="0"/>
                <a:cs typeface="Times New Roman" panose="02020603050405020304" pitchFamily="18" charset="0"/>
              </a:rPr>
              <a:t>WORK</a:t>
            </a:r>
            <a:endParaRPr lang="en-IN" sz="2400" dirty="0"/>
          </a:p>
        </p:txBody>
      </p:sp>
      <p:pic>
        <p:nvPicPr>
          <p:cNvPr id="6" name="Picture 5">
            <a:extLst>
              <a:ext uri="{FF2B5EF4-FFF2-40B4-BE49-F238E27FC236}">
                <a16:creationId xmlns="" xmlns:a16="http://schemas.microsoft.com/office/drawing/2014/main" id="{B5D2800E-A3B9-4095-A23B-FE57668C15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5289" y="914812"/>
            <a:ext cx="914400" cy="947055"/>
          </a:xfrm>
          <a:prstGeom prst="rect">
            <a:avLst/>
          </a:prstGeom>
        </p:spPr>
      </p:pic>
      <p:pic>
        <p:nvPicPr>
          <p:cNvPr id="7" name="Picture 6">
            <a:extLst>
              <a:ext uri="{FF2B5EF4-FFF2-40B4-BE49-F238E27FC236}">
                <a16:creationId xmlns="" xmlns:a16="http://schemas.microsoft.com/office/drawing/2014/main" id="{EB2EB5DB-28B3-4F23-B560-0F89D59D4E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2271" y="877375"/>
            <a:ext cx="866775" cy="866775"/>
          </a:xfrm>
          <a:prstGeom prst="rect">
            <a:avLst/>
          </a:prstGeom>
        </p:spPr>
      </p:pic>
      <p:sp>
        <p:nvSpPr>
          <p:cNvPr id="8" name="Subtitle 2">
            <a:extLst>
              <a:ext uri="{FF2B5EF4-FFF2-40B4-BE49-F238E27FC236}">
                <a16:creationId xmlns="" xmlns:a16="http://schemas.microsoft.com/office/drawing/2014/main" id="{7EFC1BD5-85DB-4212-8984-3FC8C5BD54B6}"/>
              </a:ext>
            </a:extLst>
          </p:cNvPr>
          <p:cNvSpPr>
            <a:spLocks noGrp="1"/>
          </p:cNvSpPr>
          <p:nvPr>
            <p:ph type="subTitle" idx="1"/>
          </p:nvPr>
        </p:nvSpPr>
        <p:spPr>
          <a:xfrm>
            <a:off x="1349890" y="2580641"/>
            <a:ext cx="9531470" cy="3921759"/>
          </a:xfrm>
        </p:spPr>
        <p:txBody>
          <a:bodyPr>
            <a:normAutofit/>
          </a:bodyPr>
          <a:lstStyle/>
          <a:p>
            <a:endParaRPr lang="en-US" sz="1600" u="sng"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b="1" u="sng" dirty="0" smtClean="0">
                <a:latin typeface="Times New Roman" panose="02020603050405020304" pitchFamily="18" charset="0"/>
                <a:cs typeface="Times New Roman" panose="02020603050405020304" pitchFamily="18" charset="0"/>
                <a:sym typeface="+mn-ea"/>
              </a:rPr>
              <a:t>“COMPUTER VISION-BASED EARLY FIRE DETECTION USING MACHINE LEARNING”</a:t>
            </a:r>
            <a:r>
              <a:rPr lang="en-US" sz="1600" b="1" dirty="0" smtClean="0">
                <a:latin typeface="Times New Roman" panose="02020603050405020304" pitchFamily="18" charset="0"/>
                <a:cs typeface="Times New Roman" panose="02020603050405020304" pitchFamily="18" charset="0"/>
                <a:sym typeface="+mn-ea"/>
              </a:rPr>
              <a:t> </a:t>
            </a:r>
            <a:endParaRPr lang="en-US" sz="1600" u="sng"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u="sng" dirty="0" smtClean="0">
                <a:solidFill>
                  <a:schemeClr val="tx1">
                    <a:lumMod val="95000"/>
                    <a:lumOff val="5000"/>
                  </a:schemeClr>
                </a:solidFill>
                <a:latin typeface="Times New Roman" panose="02020603050405020304" pitchFamily="18" charset="0"/>
                <a:cs typeface="Times New Roman" panose="02020603050405020304" pitchFamily="18" charset="0"/>
              </a:rPr>
              <a:t>BATCH NUMBER</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4</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b="1" u="sng" dirty="0">
                <a:solidFill>
                  <a:schemeClr val="tx1">
                    <a:lumMod val="95000"/>
                    <a:lumOff val="5000"/>
                  </a:schemeClr>
                </a:solidFill>
                <a:latin typeface="Times New Roman" panose="02020603050405020304" pitchFamily="18" charset="0"/>
                <a:cs typeface="Times New Roman" panose="02020603050405020304" pitchFamily="18" charset="0"/>
              </a:rPr>
              <a:t>PROJECT </a:t>
            </a:r>
            <a:r>
              <a:rPr lang="en-US" sz="1600" b="1" u="sng" dirty="0" smtClean="0">
                <a:solidFill>
                  <a:schemeClr val="tx1">
                    <a:lumMod val="95000"/>
                    <a:lumOff val="5000"/>
                  </a:schemeClr>
                </a:solidFill>
                <a:latin typeface="Times New Roman" panose="02020603050405020304" pitchFamily="18" charset="0"/>
                <a:cs typeface="Times New Roman" panose="02020603050405020304" pitchFamily="18" charset="0"/>
              </a:rPr>
              <a:t>MEMBERS</a:t>
            </a: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1)ISHWARIYA.P(412818205021)</a:t>
            </a: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2)LAKSHMI </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PRABHA.R(412818205034)</a:t>
            </a:r>
            <a:endPar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         3)MYTHIREYENI.P.V.(412818205042)</a:t>
            </a:r>
          </a:p>
          <a:p>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600" b="1" dirty="0" smtClean="0">
                <a:solidFill>
                  <a:schemeClr val="tx1">
                    <a:lumMod val="95000"/>
                    <a:lumOff val="5000"/>
                  </a:schemeClr>
                </a:solidFill>
                <a:latin typeface="Times New Roman" panose="02020603050405020304" pitchFamily="18" charset="0"/>
                <a:cs typeface="Times New Roman" panose="02020603050405020304" pitchFamily="18" charset="0"/>
              </a:rPr>
              <a:t>4)NEELAVENI.M(412818205045</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rPr>
              <a:t>)</a:t>
            </a:r>
          </a:p>
          <a:p>
            <a:r>
              <a:rPr lang="en-US" sz="1600" u="sng" dirty="0" smtClean="0">
                <a:solidFill>
                  <a:schemeClr val="tx1">
                    <a:lumMod val="95000"/>
                    <a:lumOff val="5000"/>
                  </a:schemeClr>
                </a:solidFill>
                <a:latin typeface="Times New Roman" panose="02020603050405020304" pitchFamily="18" charset="0"/>
                <a:cs typeface="Times New Roman" panose="02020603050405020304" pitchFamily="18" charset="0"/>
              </a:rPr>
              <a:t>UNDER </a:t>
            </a:r>
            <a:r>
              <a:rPr lang="en-US" sz="1600" u="sng" dirty="0">
                <a:solidFill>
                  <a:schemeClr val="tx1">
                    <a:lumMod val="95000"/>
                    <a:lumOff val="5000"/>
                  </a:schemeClr>
                </a:solidFill>
                <a:latin typeface="Times New Roman" panose="02020603050405020304" pitchFamily="18" charset="0"/>
                <a:cs typeface="Times New Roman" panose="02020603050405020304" pitchFamily="18" charset="0"/>
              </a:rPr>
              <a:t>THE GUIDANCE OF</a:t>
            </a:r>
          </a:p>
          <a:p>
            <a:r>
              <a:rPr lang="en-US" sz="1600" b="1" u="sng" dirty="0" err="1" smtClean="0">
                <a:solidFill>
                  <a:schemeClr val="tx1">
                    <a:lumMod val="95000"/>
                    <a:lumOff val="5000"/>
                  </a:schemeClr>
                </a:solidFill>
                <a:latin typeface="Times New Roman" panose="02020603050405020304" pitchFamily="18" charset="0"/>
                <a:cs typeface="Times New Roman" panose="02020603050405020304" pitchFamily="18" charset="0"/>
              </a:rPr>
              <a:t>Mr.M.ASAN</a:t>
            </a:r>
            <a:r>
              <a:rPr lang="en-US" sz="1600" b="1" u="sng" dirty="0" smtClean="0">
                <a:solidFill>
                  <a:schemeClr val="tx1">
                    <a:lumMod val="95000"/>
                    <a:lumOff val="5000"/>
                  </a:schemeClr>
                </a:solidFill>
                <a:latin typeface="Times New Roman" panose="02020603050405020304" pitchFamily="18" charset="0"/>
                <a:cs typeface="Times New Roman" panose="02020603050405020304" pitchFamily="18" charset="0"/>
              </a:rPr>
              <a:t> NAINAR</a:t>
            </a:r>
            <a:endParaRPr lang="en-US" sz="1600" b="1" u="sng"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b="1" u="sng" dirty="0" smtClean="0">
                <a:solidFill>
                  <a:schemeClr val="tx1">
                    <a:lumMod val="95000"/>
                    <a:lumOff val="5000"/>
                  </a:schemeClr>
                </a:solidFill>
                <a:latin typeface="Times New Roman" panose="02020603050405020304" pitchFamily="18" charset="0"/>
                <a:cs typeface="Times New Roman" panose="02020603050405020304" pitchFamily="18" charset="0"/>
              </a:rPr>
              <a:t>ASSISTANT PROFESSOR/</a:t>
            </a:r>
            <a:r>
              <a:rPr lang="en-US" sz="1600" b="1" u="sng" dirty="0" err="1" smtClean="0">
                <a:solidFill>
                  <a:schemeClr val="tx1">
                    <a:lumMod val="95000"/>
                    <a:lumOff val="5000"/>
                  </a:schemeClr>
                </a:solidFill>
                <a:latin typeface="Times New Roman" panose="02020603050405020304" pitchFamily="18" charset="0"/>
                <a:cs typeface="Times New Roman" panose="02020603050405020304" pitchFamily="18" charset="0"/>
              </a:rPr>
              <a:t>Dept</a:t>
            </a:r>
            <a:r>
              <a:rPr lang="en-US" sz="1600" b="1" u="sng"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sz="1600" b="1" u="sng" dirty="0">
                <a:solidFill>
                  <a:schemeClr val="tx1">
                    <a:lumMod val="95000"/>
                    <a:lumOff val="5000"/>
                  </a:schemeClr>
                </a:solidFill>
                <a:latin typeface="Times New Roman" panose="02020603050405020304" pitchFamily="18" charset="0"/>
                <a:cs typeface="Times New Roman" panose="02020603050405020304" pitchFamily="18" charset="0"/>
              </a:rPr>
              <a:t>of IT</a:t>
            </a:r>
          </a:p>
          <a:p>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INTRODUCTION</a:t>
            </a:r>
          </a:p>
        </p:txBody>
      </p:sp>
      <p:sp>
        <p:nvSpPr>
          <p:cNvPr id="5" name="Content Placeholder 2"/>
          <p:cNvSpPr>
            <a:spLocks noGrp="1"/>
          </p:cNvSpPr>
          <p:nvPr/>
        </p:nvSpPr>
        <p:spPr>
          <a:xfrm>
            <a:off x="838200" y="1594132"/>
            <a:ext cx="10515600" cy="48219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2200" dirty="0">
                <a:latin typeface="Times New Roman" panose="02020603050405020304" pitchFamily="18" charset="0"/>
                <a:cs typeface="Times New Roman" panose="02020603050405020304" pitchFamily="18" charset="0"/>
              </a:rPr>
              <a:t>Computer Vision based fire detection using image processing has the potential to be useful in conditions in which conventional methods cannot be adopted</a:t>
            </a:r>
            <a:r>
              <a:rPr lang="en-US" sz="2200" dirty="0">
                <a:solidFill>
                  <a:srgbClr val="FF0000"/>
                </a:solidFill>
                <a:latin typeface="Times New Roman" panose="02020603050405020304" pitchFamily="18" charset="0"/>
                <a:cs typeface="Times New Roman" panose="02020603050405020304" pitchFamily="18" charset="0"/>
              </a:rPr>
              <a:t>. </a:t>
            </a:r>
          </a:p>
          <a:p>
            <a:pPr algn="just">
              <a:lnSpc>
                <a:spcPct val="100000"/>
              </a:lnSpc>
            </a:pPr>
            <a:r>
              <a:rPr lang="en-US" sz="2200" dirty="0">
                <a:latin typeface="Times New Roman" panose="02020603050405020304" pitchFamily="18" charset="0"/>
                <a:cs typeface="Times New Roman" panose="02020603050405020304" pitchFamily="18" charset="0"/>
              </a:rPr>
              <a:t>The fire detection algorithm uses visual characteristics of fires like brightness, color, spectral texture, spectral flicker, and edge trembling to discriminate them from other visible stimuli. </a:t>
            </a:r>
          </a:p>
          <a:p>
            <a:pPr algn="just">
              <a:lnSpc>
                <a:spcPct val="100000"/>
              </a:lnSpc>
            </a:pPr>
            <a:r>
              <a:rPr lang="en-US" sz="2200" dirty="0">
                <a:latin typeface="Times New Roman" panose="02020603050405020304" pitchFamily="18" charset="0"/>
                <a:cs typeface="Times New Roman" panose="02020603050405020304" pitchFamily="18" charset="0"/>
              </a:rPr>
              <a:t>There are various fire detection techniques such as infrared sensor, a thermal detector, smoke detector, flame detector, and optical smoke detector. These methods are not always reliable as they do not always detect the fire itself but detect one or more phenomena resulting from fire, such as smoke, heat, infrared, ultraviolet light radiation or gas, which could be produced in other ways and hence, produces many false alarms. </a:t>
            </a:r>
          </a:p>
          <a:p>
            <a:pPr algn="just">
              <a:lnSpc>
                <a:spcPct val="100000"/>
              </a:lnSpc>
            </a:pPr>
            <a:r>
              <a:rPr lang="en-US" sz="2200" dirty="0">
                <a:latin typeface="Times New Roman" panose="02020603050405020304" pitchFamily="18" charset="0"/>
                <a:cs typeface="Times New Roman" panose="02020603050405020304" pitchFamily="18" charset="0"/>
              </a:rPr>
              <a:t>By the help of computer vision and image processing techniques, it is possible to get better results than conventional systems because images can provide more reliable information.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43139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smtClean="0">
                <a:latin typeface="Times New Roman" panose="02020603050405020304" pitchFamily="18" charset="0"/>
                <a:cs typeface="Times New Roman" panose="02020603050405020304" pitchFamily="18" charset="0"/>
              </a:rPr>
              <a:t>OBJECTIVE</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nvSpPr>
        <p:spPr>
          <a:xfrm>
            <a:off x="838200" y="175696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dirty="0">
                <a:latin typeface="Times New Roman" panose="02020603050405020304" pitchFamily="18" charset="0"/>
                <a:cs typeface="Times New Roman" panose="02020603050405020304" pitchFamily="18" charset="0"/>
              </a:rPr>
              <a:t>Once the clues of the fire is inspected in a real time process, it has obvious distinguishing features both in terms of motion, color spectrum and textural structure. In this way, it can be easily separated from other natural components in the sky and forest by means of various filtering, edge detection and color recognition tools. However, it is too late to intervene when the fire and flame become visible.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951230" y="3492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anose="02020603050405020304" pitchFamily="18" charset="0"/>
                <a:cs typeface="Times New Roman" panose="02020603050405020304" pitchFamily="18" charset="0"/>
              </a:rPr>
              <a:t>EXISTING </a:t>
            </a:r>
            <a:r>
              <a:rPr lang="en-IN" sz="3200" b="1" dirty="0" smtClean="0">
                <a:latin typeface="Times New Roman" panose="02020603050405020304" pitchFamily="18" charset="0"/>
                <a:cs typeface="Times New Roman" panose="02020603050405020304" pitchFamily="18" charset="0"/>
              </a:rPr>
              <a:t>SYSTEM</a:t>
            </a:r>
            <a:r>
              <a:rPr lang="en-IN" sz="3200" dirty="0">
                <a:latin typeface="Times New Roman" panose="02020603050405020304" pitchFamily="18" charset="0"/>
                <a:cs typeface="Times New Roman" panose="02020603050405020304" pitchFamily="18" charset="0"/>
              </a:rPr>
              <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nvSpPr>
        <p:spPr>
          <a:xfrm>
            <a:off x="838200" y="1491175"/>
            <a:ext cx="10515600" cy="46857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Correlation based analysis and transformation methods</a:t>
            </a:r>
          </a:p>
          <a:p>
            <a:r>
              <a:rPr lang="en-US" sz="2400" dirty="0">
                <a:latin typeface="Times New Roman" panose="02020603050405020304" pitchFamily="18" charset="0"/>
                <a:cs typeface="Times New Roman" panose="02020603050405020304" pitchFamily="18" charset="0"/>
              </a:rPr>
              <a:t>Data Mining Approach to Predict Forest Fires using Meteorological Data</a:t>
            </a:r>
          </a:p>
          <a:p>
            <a:r>
              <a:rPr lang="en-US" sz="2400" dirty="0">
                <a:latin typeface="Times New Roman" panose="02020603050405020304" pitchFamily="18" charset="0"/>
                <a:cs typeface="Times New Roman" panose="02020603050405020304" pitchFamily="18" charset="0"/>
              </a:rPr>
              <a:t>SVM classifier</a:t>
            </a:r>
          </a:p>
          <a:p>
            <a:r>
              <a:rPr lang="en-US" sz="2400" dirty="0">
                <a:latin typeface="Times New Roman" panose="02020603050405020304" pitchFamily="18" charset="0"/>
                <a:cs typeface="Times New Roman" panose="02020603050405020304" pitchFamily="18" charset="0"/>
              </a:rPr>
              <a:t>Circle-based Approximation to Forest Fires with Distributed Wireless Sensor Networks using clustering</a:t>
            </a:r>
          </a:p>
          <a:p>
            <a:r>
              <a:rPr lang="en-US" sz="2400" dirty="0">
                <a:latin typeface="Times New Roman" panose="02020603050405020304" pitchFamily="18" charset="0"/>
                <a:cs typeface="Times New Roman" panose="02020603050405020304" pitchFamily="18" charset="0"/>
              </a:rPr>
              <a:t>Event Detection in Wireless Sensor Networks for Disaster Management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anose="02020603050405020304" pitchFamily="18" charset="0"/>
                <a:cs typeface="Times New Roman" panose="02020603050405020304" pitchFamily="18" charset="0"/>
              </a:rPr>
              <a:t>PROPSOED </a:t>
            </a:r>
            <a:r>
              <a:rPr lang="en-IN" sz="3200" b="1" dirty="0" smtClean="0">
                <a:latin typeface="Times New Roman" panose="02020603050405020304" pitchFamily="18" charset="0"/>
                <a:cs typeface="Times New Roman" panose="02020603050405020304" pitchFamily="18" charset="0"/>
              </a:rPr>
              <a:t>SYTEM</a:t>
            </a:r>
            <a:r>
              <a:rPr lang="en-IN" sz="3200" dirty="0">
                <a:latin typeface="Times New Roman" panose="02020603050405020304" pitchFamily="18" charset="0"/>
                <a:cs typeface="Times New Roman" panose="02020603050405020304" pitchFamily="18" charset="0"/>
              </a:rPr>
              <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nvSpPr>
        <p:spPr>
          <a:xfrm>
            <a:off x="838200" y="1354238"/>
            <a:ext cx="9220200" cy="43291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2400" dirty="0">
                <a:latin typeface="Times New Roman" panose="02020603050405020304" pitchFamily="18" charset="0"/>
                <a:cs typeface="Times New Roman" panose="02020603050405020304" pitchFamily="18" charset="0"/>
              </a:rPr>
              <a:t>Here in fire detection, we are using the Haar Cascade classifier, which is very popular in object detection through the image or any other video feeds.</a:t>
            </a:r>
          </a:p>
          <a:p>
            <a:pPr algn="just">
              <a:lnSpc>
                <a:spcPct val="100000"/>
              </a:lnSpc>
            </a:pPr>
            <a:r>
              <a:rPr lang="en-US" sz="2400" dirty="0">
                <a:latin typeface="Times New Roman" panose="02020603050405020304" pitchFamily="18" charset="0"/>
                <a:cs typeface="Times New Roman" panose="02020603050405020304" pitchFamily="18" charset="0"/>
              </a:rPr>
              <a:t>Detection – open cv - python</a:t>
            </a:r>
          </a:p>
          <a:p>
            <a:pPr algn="just">
              <a:lnSpc>
                <a:spcPct val="100000"/>
              </a:lnSpc>
            </a:pPr>
            <a:r>
              <a:rPr lang="en-US" sz="2400" dirty="0" err="1">
                <a:latin typeface="Times New Roman" panose="02020603050405020304" pitchFamily="18" charset="0"/>
                <a:cs typeface="Times New Roman" panose="02020603050405020304" pitchFamily="18" charset="0"/>
              </a:rPr>
              <a:t>Haar</a:t>
            </a:r>
            <a:r>
              <a:rPr lang="en-US" sz="2400" dirty="0">
                <a:latin typeface="Times New Roman" panose="02020603050405020304" pitchFamily="18" charset="0"/>
                <a:cs typeface="Times New Roman" panose="02020603050405020304" pitchFamily="18" charset="0"/>
              </a:rPr>
              <a:t>-like Features</a:t>
            </a:r>
          </a:p>
          <a:p>
            <a:pPr algn="just">
              <a:lnSpc>
                <a:spcPct val="100000"/>
              </a:lnSpc>
            </a:pPr>
            <a:r>
              <a:rPr lang="en-US" sz="2400" dirty="0">
                <a:latin typeface="Times New Roman" panose="02020603050405020304" pitchFamily="18" charset="0"/>
                <a:cs typeface="Times New Roman" panose="02020603050405020304" pitchFamily="18" charset="0"/>
              </a:rPr>
              <a:t>Integral Image</a:t>
            </a:r>
          </a:p>
          <a:p>
            <a:pPr algn="just">
              <a:lnSpc>
                <a:spcPct val="100000"/>
              </a:lnSpc>
            </a:pPr>
            <a:r>
              <a:rPr lang="en-US" sz="2400" dirty="0">
                <a:latin typeface="Times New Roman" panose="02020603050405020304" pitchFamily="18" charset="0"/>
                <a:cs typeface="Times New Roman" panose="02020603050405020304" pitchFamily="18" charset="0"/>
              </a:rPr>
              <a:t>Training and Learning</a:t>
            </a:r>
          </a:p>
          <a:p>
            <a:pPr algn="just">
              <a:lnSpc>
                <a:spcPct val="100000"/>
              </a:lnSpc>
            </a:pPr>
            <a:r>
              <a:rPr lang="en-US" sz="2400" dirty="0">
                <a:latin typeface="Times New Roman" panose="02020603050405020304" pitchFamily="18" charset="0"/>
                <a:cs typeface="Times New Roman" panose="02020603050405020304" pitchFamily="18" charset="0"/>
              </a:rPr>
              <a:t>Adaptive Boosting (Ada Boost)</a:t>
            </a:r>
          </a:p>
          <a:p>
            <a:pPr algn="just">
              <a:lnSpc>
                <a:spcPct val="100000"/>
              </a:lnSpc>
            </a:pPr>
            <a:r>
              <a:rPr lang="en-US" sz="2400" dirty="0">
                <a:latin typeface="Times New Roman" panose="02020603050405020304" pitchFamily="18" charset="0"/>
                <a:cs typeface="Times New Roman" panose="02020603050405020304" pitchFamily="18" charset="0"/>
              </a:rPr>
              <a:t>Cascading</a:t>
            </a:r>
          </a:p>
          <a:p>
            <a:pPr marL="0" indent="0" algn="just">
              <a:buNone/>
            </a:pP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BLOCK </a:t>
            </a:r>
            <a:r>
              <a:rPr lang="en-US" sz="3200" b="1" dirty="0" smtClean="0">
                <a:latin typeface="Times New Roman" panose="02020603050405020304" pitchFamily="18" charset="0"/>
                <a:cs typeface="Times New Roman" panose="02020603050405020304" pitchFamily="18" charset="0"/>
              </a:rPr>
              <a:t>DIAGRAM</a:t>
            </a:r>
            <a:endParaRPr lang="en-US" sz="3200" b="1" dirty="0">
              <a:latin typeface="Times New Roman" panose="02020603050405020304" pitchFamily="18" charset="0"/>
              <a:cs typeface="Times New Roman" panose="02020603050405020304" pitchFamily="18" charset="0"/>
            </a:endParaRPr>
          </a:p>
        </p:txBody>
      </p:sp>
      <p:sp>
        <p:nvSpPr>
          <p:cNvPr id="6" name="Rectangle 5"/>
          <p:cNvSpPr/>
          <p:nvPr/>
        </p:nvSpPr>
        <p:spPr>
          <a:xfrm>
            <a:off x="1405718" y="3357572"/>
            <a:ext cx="2169994" cy="25655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Webcam(recording)</a:t>
            </a:r>
          </a:p>
        </p:txBody>
      </p:sp>
      <p:sp>
        <p:nvSpPr>
          <p:cNvPr id="8" name="Rectangle 7"/>
          <p:cNvSpPr/>
          <p:nvPr/>
        </p:nvSpPr>
        <p:spPr>
          <a:xfrm>
            <a:off x="4367281" y="3357572"/>
            <a:ext cx="2169994" cy="25655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Image processing HAAR CASCADE CLASSIFIER</a:t>
            </a:r>
          </a:p>
        </p:txBody>
      </p:sp>
      <p:sp>
        <p:nvSpPr>
          <p:cNvPr id="10" name="Rectangle 9"/>
          <p:cNvSpPr/>
          <p:nvPr/>
        </p:nvSpPr>
        <p:spPr>
          <a:xfrm>
            <a:off x="7399359" y="3400133"/>
            <a:ext cx="2169994" cy="25655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Fire alert or alarm</a:t>
            </a:r>
          </a:p>
        </p:txBody>
      </p:sp>
      <p:sp>
        <p:nvSpPr>
          <p:cNvPr id="11" name="Arc 10"/>
          <p:cNvSpPr/>
          <p:nvPr/>
        </p:nvSpPr>
        <p:spPr>
          <a:xfrm>
            <a:off x="7137779" y="319406"/>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Arrow 13"/>
          <p:cNvSpPr/>
          <p:nvPr/>
        </p:nvSpPr>
        <p:spPr>
          <a:xfrm rot="5400000">
            <a:off x="1637729" y="2211161"/>
            <a:ext cx="1705970" cy="5868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15" name="Right Arrow 14"/>
          <p:cNvSpPr/>
          <p:nvPr/>
        </p:nvSpPr>
        <p:spPr>
          <a:xfrm>
            <a:off x="3575712" y="4504498"/>
            <a:ext cx="862084" cy="465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6537275" y="4504497"/>
            <a:ext cx="862084" cy="465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9569353" y="4545586"/>
            <a:ext cx="627797" cy="383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anose="02020603050405020304" pitchFamily="18" charset="0"/>
                <a:cs typeface="Times New Roman" panose="02020603050405020304" pitchFamily="18" charset="0"/>
              </a:rPr>
              <a:t>HARDWARE REQUIREMENTS</a:t>
            </a:r>
            <a:endParaRPr lang="en-US" sz="3200" b="1" dirty="0"/>
          </a:p>
        </p:txBody>
      </p:sp>
      <p:sp>
        <p:nvSpPr>
          <p:cNvPr id="3" name="Content Placeholder 2"/>
          <p:cNvSpPr>
            <a:spLocks noGrp="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0000"/>
              </a:lnSpc>
              <a:buNone/>
            </a:pPr>
            <a:r>
              <a:rPr lang="en-GB" dirty="0">
                <a:latin typeface="Times New Roman" panose="02020603050405020304" pitchFamily="18" charset="0"/>
                <a:cs typeface="Times New Roman" panose="02020603050405020304" pitchFamily="18" charset="0"/>
              </a:rPr>
              <a:t>System : Pentium i3 Processor.</a:t>
            </a:r>
            <a:endParaRPr lang="en-US" dirty="0">
              <a:latin typeface="Times New Roman" panose="02020603050405020304" pitchFamily="18" charset="0"/>
              <a:cs typeface="Times New Roman" panose="02020603050405020304" pitchFamily="18" charset="0"/>
            </a:endParaRPr>
          </a:p>
          <a:p>
            <a:pPr lvl="0">
              <a:lnSpc>
                <a:spcPct val="100000"/>
              </a:lnSpc>
              <a:buNone/>
            </a:pPr>
            <a:r>
              <a:rPr lang="en-GB" dirty="0">
                <a:latin typeface="Times New Roman" panose="02020603050405020304" pitchFamily="18" charset="0"/>
                <a:cs typeface="Times New Roman" panose="02020603050405020304" pitchFamily="18" charset="0"/>
              </a:rPr>
              <a:t>Hard Disk : 500 GB.</a:t>
            </a:r>
            <a:endParaRPr lang="en-US" dirty="0">
              <a:latin typeface="Times New Roman" panose="02020603050405020304" pitchFamily="18" charset="0"/>
              <a:cs typeface="Times New Roman" panose="02020603050405020304" pitchFamily="18" charset="0"/>
            </a:endParaRPr>
          </a:p>
          <a:p>
            <a:pPr lvl="0">
              <a:lnSpc>
                <a:spcPct val="100000"/>
              </a:lnSpc>
              <a:buNone/>
            </a:pPr>
            <a:r>
              <a:rPr lang="en-GB" dirty="0">
                <a:latin typeface="Times New Roman" panose="02020603050405020304" pitchFamily="18" charset="0"/>
                <a:cs typeface="Times New Roman" panose="02020603050405020304" pitchFamily="18" charset="0"/>
              </a:rPr>
              <a:t>Monitor : 15’’ LED</a:t>
            </a:r>
            <a:endParaRPr lang="en-US" dirty="0">
              <a:latin typeface="Times New Roman" panose="02020603050405020304" pitchFamily="18" charset="0"/>
              <a:cs typeface="Times New Roman" panose="02020603050405020304" pitchFamily="18" charset="0"/>
            </a:endParaRPr>
          </a:p>
          <a:p>
            <a:pPr lvl="0">
              <a:lnSpc>
                <a:spcPct val="100000"/>
              </a:lnSpc>
              <a:buNone/>
            </a:pPr>
            <a:r>
              <a:rPr lang="en-GB" dirty="0">
                <a:latin typeface="Times New Roman" panose="02020603050405020304" pitchFamily="18" charset="0"/>
                <a:cs typeface="Times New Roman" panose="02020603050405020304" pitchFamily="18" charset="0"/>
              </a:rPr>
              <a:t>Input Devices : Keyboard, Mouse</a:t>
            </a:r>
            <a:endParaRPr lang="en-US" dirty="0">
              <a:latin typeface="Times New Roman" panose="02020603050405020304" pitchFamily="18" charset="0"/>
              <a:cs typeface="Times New Roman" panose="02020603050405020304" pitchFamily="18" charset="0"/>
            </a:endParaRPr>
          </a:p>
          <a:p>
            <a:pPr lvl="0">
              <a:lnSpc>
                <a:spcPct val="100000"/>
              </a:lnSpc>
              <a:buNone/>
            </a:pPr>
            <a:r>
              <a:rPr lang="en-GB" dirty="0">
                <a:latin typeface="Times New Roman" panose="02020603050405020304" pitchFamily="18" charset="0"/>
                <a:cs typeface="Times New Roman" panose="02020603050405020304" pitchFamily="18" charset="0"/>
              </a:rPr>
              <a:t>Ram : 2 GB</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BENEFITS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771208" cy="4351338"/>
          </a:xfrm>
        </p:spPr>
        <p:txBody>
          <a:bodyPr/>
          <a:lstStyle/>
          <a:p>
            <a:pPr algn="just">
              <a:lnSpc>
                <a:spcPct val="100000"/>
              </a:lnSpc>
            </a:pPr>
            <a:r>
              <a:rPr lang="en-US" dirty="0">
                <a:latin typeface="Times New Roman" panose="02020603050405020304" pitchFamily="18" charset="0"/>
                <a:cs typeface="Times New Roman" panose="02020603050405020304" pitchFamily="18" charset="0"/>
                <a:sym typeface="+mn-ea"/>
              </a:rPr>
              <a:t>The system can be used in various areas like in parking areas, road traffic congestions, agriculture, farming, there are many uses of object detection.</a:t>
            </a: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sym typeface="+mn-ea"/>
              </a:rPr>
              <a:t>In future, this approach can be extended by for other disasters as well.</a:t>
            </a:r>
            <a:endParaRPr lang="en-US"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anose="02020603050405020304" pitchFamily="18" charset="0"/>
                <a:cs typeface="Times New Roman" panose="02020603050405020304" pitchFamily="18" charset="0"/>
              </a:rPr>
              <a:t>SOFTWARE REQUIREMENTS</a:t>
            </a:r>
          </a:p>
        </p:txBody>
      </p:sp>
      <p:sp>
        <p:nvSpPr>
          <p:cNvPr id="3" name="Content Placeholder 2"/>
          <p:cNvSpPr>
            <a:spLocks noGrp="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dirty="0">
                <a:latin typeface="Times New Roman" panose="02020603050405020304" pitchFamily="18" charset="0"/>
                <a:cs typeface="Times New Roman" panose="02020603050405020304" pitchFamily="18" charset="0"/>
              </a:rPr>
              <a:t>Operating system: Windows </a:t>
            </a:r>
            <a:r>
              <a:rPr lang="en-US" dirty="0" smtClean="0">
                <a:latin typeface="Times New Roman" panose="02020603050405020304" pitchFamily="18" charset="0"/>
                <a:cs typeface="Times New Roman" panose="02020603050405020304" pitchFamily="18" charset="0"/>
              </a:rPr>
              <a:t>7</a:t>
            </a: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Coding Language: </a:t>
            </a:r>
            <a:r>
              <a:rPr lang="en-US" dirty="0">
                <a:latin typeface="Times New Roman" panose="02020603050405020304" pitchFamily="18" charset="0"/>
                <a:cs typeface="Times New Roman" panose="02020603050405020304" pitchFamily="18" charset="0"/>
              </a:rPr>
              <a:t>P</a:t>
            </a:r>
            <a:r>
              <a:rPr lang="en-US" dirty="0" smtClean="0">
                <a:latin typeface="Times New Roman" panose="02020603050405020304" pitchFamily="18" charset="0"/>
                <a:cs typeface="Times New Roman" panose="02020603050405020304" pitchFamily="18" charset="0"/>
              </a:rPr>
              <a:t>ython</a:t>
            </a:r>
            <a:endParaRPr lang="en-US" dirty="0">
              <a:latin typeface="Times New Roman" panose="02020603050405020304" pitchFamily="18" charset="0"/>
              <a:cs typeface="Times New Roman" panose="02020603050405020304" pitchFamily="18" charset="0"/>
            </a:endParaRPr>
          </a:p>
          <a:p>
            <a:pPr algn="just">
              <a:lnSpc>
                <a:spcPct val="100000"/>
              </a:lnSpc>
            </a:pPr>
            <a:r>
              <a:rPr lang="en-US" dirty="0">
                <a:latin typeface="Times New Roman" panose="02020603050405020304" pitchFamily="18" charset="0"/>
                <a:cs typeface="Times New Roman" panose="02020603050405020304" pitchFamily="18" charset="0"/>
              </a:rPr>
              <a:t>Tool: Anaconda Navigator </a:t>
            </a:r>
          </a:p>
          <a:p>
            <a:pPr algn="just">
              <a:lnSpc>
                <a:spcPct val="100000"/>
              </a:lnSpc>
            </a:pPr>
            <a:r>
              <a:rPr lang="en-US" dirty="0">
                <a:latin typeface="Times New Roman" panose="02020603050405020304" pitchFamily="18" charset="0"/>
                <a:cs typeface="Times New Roman" panose="02020603050405020304" pitchFamily="18" charset="0"/>
              </a:rPr>
              <a:t>Libraries: OpenCV</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457200" y="355601"/>
            <a:ext cx="10469880" cy="9885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200" b="1" dirty="0">
                <a:latin typeface="Times New Roman" panose="02020603050405020304" pitchFamily="18" charset="0"/>
                <a:cs typeface="Times New Roman" panose="02020603050405020304" pitchFamily="18" charset="0"/>
              </a:rPr>
              <a:t>FLOW DIAGRAM</a:t>
            </a:r>
          </a:p>
        </p:txBody>
      </p:sp>
      <p:pic>
        <p:nvPicPr>
          <p:cNvPr id="4" name="image19.png"/>
          <p:cNvPicPr>
            <a:picLocks noGrp="1"/>
          </p:cNvPicPr>
          <p:nvPr/>
        </p:nvPicPr>
        <p:blipFill>
          <a:blip r:embed="rId2" cstate="print"/>
          <a:stretch>
            <a:fillRect/>
          </a:stretch>
        </p:blipFill>
        <p:spPr>
          <a:xfrm>
            <a:off x="4422101" y="1158240"/>
            <a:ext cx="4020860" cy="5486262"/>
          </a:xfrm>
          <a:prstGeom prst="rect">
            <a:avLst/>
          </a:prstGeom>
        </p:spPr>
      </p:pic>
      <p:sp>
        <p:nvSpPr>
          <p:cNvPr id="5" name="Rectangle 4"/>
          <p:cNvSpPr/>
          <p:nvPr/>
        </p:nvSpPr>
        <p:spPr>
          <a:xfrm>
            <a:off x="4422101" y="2961571"/>
            <a:ext cx="2517179" cy="3759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Sending video for processing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10275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latin typeface="Times New Roman" panose="02020603050405020304" pitchFamily="18" charset="0"/>
                <a:cs typeface="Times New Roman" panose="02020603050405020304" pitchFamily="18" charset="0"/>
              </a:rPr>
              <a:t>REFERENCE </a:t>
            </a:r>
            <a:r>
              <a:rPr lang="en-IN" sz="3200" b="1" dirty="0" smtClean="0">
                <a:latin typeface="Times New Roman" panose="02020603050405020304" pitchFamily="18" charset="0"/>
                <a:cs typeface="Times New Roman" panose="02020603050405020304" pitchFamily="18" charset="0"/>
              </a:rPr>
              <a:t>PAPERS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nvSpPr>
        <p:spPr>
          <a:xfrm>
            <a:off x="838200" y="1308295"/>
            <a:ext cx="10486292" cy="51347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1800" dirty="0">
                <a:latin typeface="Times New Roman" panose="02020603050405020304" pitchFamily="18" charset="0"/>
                <a:cs typeface="Times New Roman" panose="02020603050405020304" pitchFamily="18" charset="0"/>
              </a:rPr>
              <a:t>N. </a:t>
            </a:r>
            <a:r>
              <a:rPr lang="en-US" sz="1800" dirty="0" err="1">
                <a:latin typeface="Times New Roman" panose="02020603050405020304" pitchFamily="18" charset="0"/>
                <a:cs typeface="Times New Roman" panose="02020603050405020304" pitchFamily="18" charset="0"/>
              </a:rPr>
              <a:t>Dziengel</a:t>
            </a:r>
            <a:r>
              <a:rPr lang="en-US" sz="1800" dirty="0">
                <a:latin typeface="Times New Roman" panose="02020603050405020304" pitchFamily="18" charset="0"/>
                <a:cs typeface="Times New Roman" panose="02020603050405020304" pitchFamily="18" charset="0"/>
              </a:rPr>
              <a:t>, G. </a:t>
            </a:r>
            <a:r>
              <a:rPr lang="en-US" sz="1800" dirty="0" err="1">
                <a:latin typeface="Times New Roman" panose="02020603050405020304" pitchFamily="18" charset="0"/>
                <a:cs typeface="Times New Roman" panose="02020603050405020304" pitchFamily="18" charset="0"/>
              </a:rPr>
              <a:t>Wittenburg</a:t>
            </a:r>
            <a:r>
              <a:rPr lang="en-US" sz="1800" dirty="0">
                <a:latin typeface="Times New Roman" panose="02020603050405020304" pitchFamily="18" charset="0"/>
                <a:cs typeface="Times New Roman" panose="02020603050405020304" pitchFamily="18" charset="0"/>
              </a:rPr>
              <a:t>, and J. Schiller, "Towards distributed event detection in Wireless Sensor Networks," in Adjunct Proc. of 4th </a:t>
            </a:r>
            <a:r>
              <a:rPr lang="en-US" sz="1800" dirty="0" err="1">
                <a:latin typeface="Times New Roman" panose="02020603050405020304" pitchFamily="18" charset="0"/>
                <a:cs typeface="Times New Roman" panose="02020603050405020304" pitchFamily="18" charset="0"/>
              </a:rPr>
              <a:t>IEEEfACM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IntI</a:t>
            </a:r>
            <a:r>
              <a:rPr lang="en-US" sz="1800" dirty="0">
                <a:latin typeface="Times New Roman" panose="02020603050405020304" pitchFamily="18" charset="0"/>
                <a:cs typeface="Times New Roman" panose="02020603050405020304" pitchFamily="18" charset="0"/>
              </a:rPr>
              <a:t>. Conf. on Distributed Computing in Sensor Systems (DCOSSa:AZ'08), </a:t>
            </a:r>
            <a:r>
              <a:rPr lang="en-US" sz="1800" dirty="0" err="1">
                <a:latin typeface="Times New Roman" panose="02020603050405020304" pitchFamily="18" charset="0"/>
                <a:cs typeface="Times New Roman" panose="02020603050405020304" pitchFamily="18" charset="0"/>
              </a:rPr>
              <a:t>Santorini</a:t>
            </a:r>
            <a:r>
              <a:rPr lang="en-US" sz="1800" dirty="0">
                <a:latin typeface="Times New Roman" panose="02020603050405020304" pitchFamily="18" charset="0"/>
                <a:cs typeface="Times New Roman" panose="02020603050405020304" pitchFamily="18" charset="0"/>
              </a:rPr>
              <a:t> Island, Greece, 2020.</a:t>
            </a:r>
          </a:p>
          <a:p>
            <a:pPr algn="just">
              <a:lnSpc>
                <a:spcPct val="100000"/>
              </a:lnSpc>
            </a:pPr>
            <a:r>
              <a:rPr lang="en-US" sz="1800" dirty="0">
                <a:latin typeface="Times New Roman" panose="02020603050405020304" pitchFamily="18" charset="0"/>
                <a:cs typeface="Times New Roman" panose="02020603050405020304" pitchFamily="18" charset="0"/>
              </a:rPr>
              <a:t>S. </a:t>
            </a:r>
            <a:r>
              <a:rPr lang="en-US" sz="1800" dirty="0" err="1">
                <a:latin typeface="Times New Roman" panose="02020603050405020304" pitchFamily="18" charset="0"/>
                <a:cs typeface="Times New Roman" panose="02020603050405020304" pitchFamily="18" charset="0"/>
              </a:rPr>
              <a:t>Jarupadung</a:t>
            </a:r>
            <a:r>
              <a:rPr lang="en-US" sz="1800" dirty="0">
                <a:latin typeface="Times New Roman" panose="02020603050405020304" pitchFamily="18" charset="0"/>
                <a:cs typeface="Times New Roman" panose="02020603050405020304" pitchFamily="18" charset="0"/>
              </a:rPr>
              <a:t>, "Distributed event detection and semantic event processing," in The 6th ACM International Conference on Distributed Event- Based Systems (DEBS 2020)(Doctoral Symposium), 2020. </a:t>
            </a:r>
          </a:p>
          <a:p>
            <a:pPr algn="just">
              <a:lnSpc>
                <a:spcPct val="100000"/>
              </a:lnSpc>
            </a:pPr>
            <a:r>
              <a:rPr lang="en-US" sz="1800" dirty="0">
                <a:latin typeface="Times New Roman" panose="02020603050405020304" pitchFamily="18" charset="0"/>
                <a:cs typeface="Times New Roman" panose="02020603050405020304" pitchFamily="18" charset="0"/>
              </a:rPr>
              <a:t>Y. Li and L. E. Parker, "Detecting and monitoring time-related abnormal events using a Wireless Sensor Networks and mobile robot," in Intelligent Robots and Systems, 2019. IROS 2019. </a:t>
            </a:r>
            <a:r>
              <a:rPr lang="en-US" sz="1800" dirty="0" err="1">
                <a:latin typeface="Times New Roman" panose="02020603050405020304" pitchFamily="18" charset="0"/>
                <a:cs typeface="Times New Roman" panose="02020603050405020304" pitchFamily="18" charset="0"/>
              </a:rPr>
              <a:t>IEEEfRSJ</a:t>
            </a:r>
            <a:r>
              <a:rPr lang="en-US" sz="1800" dirty="0">
                <a:latin typeface="Times New Roman" panose="02020603050405020304" pitchFamily="18" charset="0"/>
                <a:cs typeface="Times New Roman" panose="02020603050405020304" pitchFamily="18" charset="0"/>
              </a:rPr>
              <a:t> International Conference on. IEEE, 2019. </a:t>
            </a:r>
          </a:p>
          <a:p>
            <a:pPr algn="just">
              <a:lnSpc>
                <a:spcPct val="100000"/>
              </a:lnSpc>
            </a:pPr>
            <a:r>
              <a:rPr lang="en-US" sz="1800" dirty="0">
                <a:latin typeface="Times New Roman" panose="02020603050405020304" pitchFamily="18" charset="0"/>
                <a:cs typeface="Times New Roman" panose="02020603050405020304" pitchFamily="18" charset="0"/>
              </a:rPr>
              <a:t>P. </a:t>
            </a:r>
            <a:r>
              <a:rPr lang="en-US" sz="1800" dirty="0" err="1">
                <a:latin typeface="Times New Roman" panose="02020603050405020304" pitchFamily="18" charset="0"/>
                <a:cs typeface="Times New Roman" panose="02020603050405020304" pitchFamily="18" charset="0"/>
              </a:rPr>
              <a:t>Radivojac</a:t>
            </a:r>
            <a:r>
              <a:rPr lang="en-US" sz="1800" dirty="0">
                <a:latin typeface="Times New Roman" panose="02020603050405020304" pitchFamily="18" charset="0"/>
                <a:cs typeface="Times New Roman" panose="02020603050405020304" pitchFamily="18" charset="0"/>
              </a:rPr>
              <a:t>, U. </a:t>
            </a:r>
            <a:r>
              <a:rPr lang="en-US" sz="1800" dirty="0" err="1">
                <a:latin typeface="Times New Roman" panose="02020603050405020304" pitchFamily="18" charset="0"/>
                <a:cs typeface="Times New Roman" panose="02020603050405020304" pitchFamily="18" charset="0"/>
              </a:rPr>
              <a:t>Korad</a:t>
            </a:r>
            <a:r>
              <a:rPr lang="en-US" sz="1800" dirty="0">
                <a:latin typeface="Times New Roman" panose="02020603050405020304" pitchFamily="18" charset="0"/>
                <a:cs typeface="Times New Roman" panose="02020603050405020304" pitchFamily="18" charset="0"/>
              </a:rPr>
              <a:t>, K. M. </a:t>
            </a:r>
            <a:r>
              <a:rPr lang="en-US" sz="1800" dirty="0" err="1">
                <a:latin typeface="Times New Roman" panose="02020603050405020304" pitchFamily="18" charset="0"/>
                <a:cs typeface="Times New Roman" panose="02020603050405020304" pitchFamily="18" charset="0"/>
              </a:rPr>
              <a:t>Sivalingam</a:t>
            </a:r>
            <a:r>
              <a:rPr lang="en-US" sz="1800" dirty="0">
                <a:latin typeface="Times New Roman" panose="02020603050405020304" pitchFamily="18" charset="0"/>
                <a:cs typeface="Times New Roman" panose="02020603050405020304" pitchFamily="18" charset="0"/>
              </a:rPr>
              <a:t>, and Z. </a:t>
            </a:r>
            <a:r>
              <a:rPr lang="en-US" sz="1800" dirty="0" err="1">
                <a:latin typeface="Times New Roman" panose="02020603050405020304" pitchFamily="18" charset="0"/>
                <a:cs typeface="Times New Roman" panose="02020603050405020304" pitchFamily="18" charset="0"/>
              </a:rPr>
              <a:t>Obradovic</a:t>
            </a:r>
            <a:r>
              <a:rPr lang="en-US" sz="1800" dirty="0">
                <a:latin typeface="Times New Roman" panose="02020603050405020304" pitchFamily="18" charset="0"/>
                <a:cs typeface="Times New Roman" panose="02020603050405020304" pitchFamily="18" charset="0"/>
              </a:rPr>
              <a:t>, "Learning from class-imbalanced data in Wireless Sensor Networks," in Vehicular Technology Conference, 2020. VTC 2020-Fall. 2020 IEEE 58th, vol. 5,IEEE, 2020. </a:t>
            </a:r>
          </a:p>
          <a:p>
            <a:pPr algn="just">
              <a:lnSpc>
                <a:spcPct val="100000"/>
              </a:lnSpc>
            </a:pPr>
            <a:r>
              <a:rPr lang="en-US" sz="1800" dirty="0">
                <a:latin typeface="Times New Roman" panose="02020603050405020304" pitchFamily="18" charset="0"/>
                <a:cs typeface="Times New Roman" panose="02020603050405020304" pitchFamily="18" charset="0"/>
              </a:rPr>
              <a:t>Z.-J. Zhang, J.-S. Fu, H.-P. Chiang, and Y.-M. Huang, "A novel mechanism for fire detection in subway transportation systems based on Wireless Sensor Networks," International Journal of Distributed Sensor Networks, vol. 2019, 2019.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3431540" y="2889885"/>
            <a:ext cx="516382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latin typeface="Times New Roman" panose="02020603050405020304" pitchFamily="18" charset="0"/>
                <a:cs typeface="Times New Roman" panose="02020603050405020304" pitchFamily="18" charset="0"/>
              </a:rPr>
              <a:t>Thanking </a:t>
            </a:r>
            <a:r>
              <a:rPr lang="en-US" sz="6000" b="1" dirty="0" smtClean="0">
                <a:latin typeface="Times New Roman" panose="02020603050405020304" pitchFamily="18" charset="0"/>
                <a:cs typeface="Times New Roman" panose="02020603050405020304" pitchFamily="18" charset="0"/>
              </a:rPr>
              <a:t>You</a:t>
            </a:r>
            <a:endParaRPr lang="en-US" sz="60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727</Words>
  <Application>Microsoft Office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SRM VALLIAMMAI ENGINEERING COLLEGE (An Autonomous Institution) DEPARTMENT OF INFORMATION TECHNOLOGY PROJECT WORK</vt:lpstr>
      <vt:lpstr>PowerPoint Presentation</vt:lpstr>
      <vt:lpstr>PowerPoint Presentation</vt:lpstr>
      <vt:lpstr>PowerPoint Presentation</vt:lpstr>
      <vt:lpstr>PowerPoint Presentation</vt:lpstr>
      <vt:lpstr>PowerPoint Presentation</vt:lpstr>
      <vt:lpstr>PowerPoint Presentation</vt:lpstr>
      <vt:lpstr>BENEFITS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vision-based early fire detection using machine learning</dc:title>
  <dc:creator>Ishwariya pandi</dc:creator>
  <cp:lastModifiedBy>Microsoft account</cp:lastModifiedBy>
  <cp:revision>9</cp:revision>
  <dcterms:created xsi:type="dcterms:W3CDTF">2022-01-05T06:37:04Z</dcterms:created>
  <dcterms:modified xsi:type="dcterms:W3CDTF">2022-01-05T16:52:35Z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A9673D0898FF49C099F7FAFC8B79ADC2</vt:lpwstr>
  </property>
  <property fmtid="{D5CDD505-2E9C-101B-9397-08002B2CF9AE}" pid="3" name="KSOProductBuildVer">
    <vt:lpwstr>1033-11.2.0.10426</vt:lpwstr>
  </property>
</Properties>
</file>